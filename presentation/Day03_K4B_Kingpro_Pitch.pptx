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9339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993392" y="0"/>
            <a:ext cx="0" cy="685800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6888" y="237744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316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31546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032"/>
            <a:ext cx="1216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1B23"/>
                </a:solidFill>
                <a:latin typeface="Aptos"/>
              </a:defRPr>
            </a:pPr>
            <a:r>
              <a:t>KINGPRO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HỌC VỤ · REACT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LAB 03 / K4B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82880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NỘI DUNG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2093976"/>
            <a:ext cx="1673352" cy="338328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21305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3168E7"/>
                </a:solidFill>
                <a:latin typeface="Aptos"/>
              </a:defRPr>
            </a:pPr>
            <a:r>
              <a:t>01  Bài toán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54203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02  Agentic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95351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03  Kiến trúc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36499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04  Công cụ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77647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05 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1879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06  Q&amp;A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2" y="6254496"/>
            <a:ext cx="1655064" cy="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6032" y="6355080"/>
            <a:ext cx="320040" cy="320040"/>
          </a:xfrm>
          <a:prstGeom prst="roundRect">
            <a:avLst>
              <a:gd name="adj" fmla="val 14000"/>
            </a:avLst>
          </a:prstGeom>
          <a:solidFill>
            <a:srgbClr val="E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6441948"/>
            <a:ext cx="2103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364224"/>
            <a:ext cx="12435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171B23"/>
                </a:solidFill>
                <a:latin typeface="Aptos"/>
              </a:defRPr>
            </a:pPr>
            <a:r>
              <a:t>NGUYỄN VĂN DUY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6528816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616F81"/>
                </a:solidFill>
                <a:latin typeface="Aptos"/>
              </a:defRPr>
            </a:pPr>
            <a:r>
              <a:t>2A202602729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10896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3168E7"/>
                </a:solidFill>
                <a:latin typeface="Aptos"/>
              </a:defRPr>
            </a:pPr>
            <a:r>
              <a:t>BÀI TOÁN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4648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16F81"/>
                </a:solidFill>
                <a:latin typeface="Aptos"/>
              </a:defRPr>
            </a:pPr>
            <a:r>
              <a:t>01 /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960120"/>
            <a:ext cx="90525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3700" b="1">
                <a:solidFill>
                  <a:srgbClr val="171B23"/>
                </a:solidFill>
                <a:latin typeface="Aptos"/>
              </a:defRPr>
            </a:pPr>
            <a:r>
              <a:t>Một câu hỏi.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3700" b="1">
                <a:solidFill>
                  <a:srgbClr val="171B23"/>
                </a:solidFill>
                <a:latin typeface="Aptos"/>
              </a:defRPr>
            </a:pPr>
            <a:r>
              <a:t>Hai cách xử lý.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2" y="2423160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616F81"/>
                </a:solidFill>
                <a:latin typeface="Aptos"/>
              </a:defRPr>
            </a:pPr>
            <a:r>
              <a:t>Câu hỏi chung cần câu trả lời. Yêu cầu tra cứu rồi tạo lịch cần dữ liệu,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616F81"/>
                </a:solidFill>
                <a:latin typeface="Aptos"/>
              </a:defRPr>
            </a:pPr>
            <a:r>
              <a:t>quyết định theo observation và một hành động có điều kiện.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9152" y="3319272"/>
            <a:ext cx="4160520" cy="20299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60320" y="3529584"/>
            <a:ext cx="82296" cy="347472"/>
          </a:xfrm>
          <a:prstGeom prst="roundRect">
            <a:avLst>
              <a:gd name="adj" fmla="val 14000"/>
            </a:avLst>
          </a:prstGeom>
          <a:solidFill>
            <a:srgbClr val="94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0632" y="3511296"/>
            <a:ext cx="352043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1B23"/>
                </a:solidFill>
                <a:latin typeface="Aptos"/>
              </a:defRPr>
            </a:pPr>
            <a:r>
              <a:t>Chatbot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7752" y="4032504"/>
            <a:ext cx="370332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16F81"/>
                </a:solidFill>
                <a:latin typeface="Aptos"/>
              </a:defRPr>
            </a:pPr>
            <a:r>
              <a:t>Một lượt LLM · không tool.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16F81"/>
                </a:solidFill>
                <a:latin typeface="Aptos"/>
              </a:defRPr>
            </a:pPr>
            <a:r>
              <a:t>Giải thích chức năng demo; không xác minh được GPA hay cố vấn.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48272" y="3319272"/>
            <a:ext cx="4681728" cy="2029968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49440" y="3529584"/>
            <a:ext cx="82296" cy="347472"/>
          </a:xfrm>
          <a:prstGeom prst="roundRect">
            <a:avLst>
              <a:gd name="adj" fmla="val 14000"/>
            </a:avLst>
          </a:prstGeom>
          <a:solidFill>
            <a:srgbClr val="316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9752" y="3511296"/>
            <a:ext cx="404164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1B23"/>
                </a:solidFill>
                <a:latin typeface="Aptos"/>
              </a:defRPr>
            </a:pPr>
            <a:r>
              <a:t>ReAct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4032504"/>
            <a:ext cx="42245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16F81"/>
                </a:solidFill>
                <a:latin typeface="Aptos"/>
              </a:defRPr>
            </a:pPr>
            <a:r>
              <a:t>Tra cứu hồ sơ → đọc cố vấn → tạo bản nháp lịch.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16F81"/>
                </a:solidFill>
                <a:latin typeface="Aptos"/>
              </a:defRPr>
            </a:pPr>
            <a:r>
              <a:t>Chỉ đi bước sau khi tool trả kết quả hợp lệ.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59152" y="5669280"/>
            <a:ext cx="9070848" cy="420624"/>
          </a:xfrm>
          <a:prstGeom prst="roundRect">
            <a:avLst>
              <a:gd name="adj" fmla="val 14000"/>
            </a:avLst>
          </a:prstGeom>
          <a:solidFill>
            <a:srgbClr val="EE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33472" y="5783580"/>
            <a:ext cx="8458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16805B"/>
                </a:solidFill>
                <a:latin typeface="Aptos"/>
              </a:defRPr>
            </a:pPr>
            <a:r>
              <a:t>DỮ LIỆU SINH VIÊN &amp; LỊCH HẸN LÀ DEMO · OPENAI API DÙNG TRONG TEST LÀ THẬT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9339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993392" y="0"/>
            <a:ext cx="0" cy="685800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6888" y="237744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316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31546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032"/>
            <a:ext cx="1216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1B23"/>
                </a:solidFill>
                <a:latin typeface="Aptos"/>
              </a:defRPr>
            </a:pPr>
            <a:r>
              <a:t>KINGPRO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HỌC VỤ · REACT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LAB 03 / K4B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82880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NỘI 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1305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01  Bài toán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" y="2505456"/>
            <a:ext cx="1673352" cy="338328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254203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3168E7"/>
                </a:solidFill>
                <a:latin typeface="Aptos"/>
              </a:defRPr>
            </a:pPr>
            <a:r>
              <a:t>02  Agentic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95351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03  Kiến trúc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36499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04  Công cụ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77647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05 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1879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06  Q&amp;A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2" y="6254496"/>
            <a:ext cx="1655064" cy="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6032" y="6355080"/>
            <a:ext cx="320040" cy="320040"/>
          </a:xfrm>
          <a:prstGeom prst="roundRect">
            <a:avLst>
              <a:gd name="adj" fmla="val 14000"/>
            </a:avLst>
          </a:prstGeom>
          <a:solidFill>
            <a:srgbClr val="E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6441948"/>
            <a:ext cx="2103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364224"/>
            <a:ext cx="12435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171B23"/>
                </a:solidFill>
                <a:latin typeface="Aptos"/>
              </a:defRPr>
            </a:pPr>
            <a:r>
              <a:t>NGUYỄN VĂN DUY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6528816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616F81"/>
                </a:solidFill>
                <a:latin typeface="Aptos"/>
              </a:defRPr>
            </a:pPr>
            <a:r>
              <a:t>2A202602729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10896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3168E7"/>
                </a:solidFill>
                <a:latin typeface="Aptos"/>
              </a:defRPr>
            </a:pPr>
            <a:r>
              <a:t>AGENTIC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4648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16F81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658368"/>
            <a:ext cx="8869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3000" b="1">
                <a:solidFill>
                  <a:srgbClr val="171B23"/>
                </a:solidFill>
                <a:latin typeface="Aptos"/>
              </a:defRPr>
            </a:pPr>
            <a:r>
              <a:t>Bài này có cần agent không?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1234440"/>
            <a:ext cx="8869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616F81"/>
                </a:solidFill>
                <a:latin typeface="Aptos"/>
              </a:defRPr>
            </a:pPr>
            <a:r>
              <a:t>Chấm 4 tiêu chí trên thang 1–5 theo báo cáo Lab 3.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9152" y="1874519"/>
            <a:ext cx="4315968" cy="1344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2066543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71B23"/>
                </a:solidFill>
                <a:latin typeface="Aptos"/>
              </a:defRPr>
            </a:pPr>
            <a:r>
              <a:t>Multi-step Reasoning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96712" y="2029967"/>
            <a:ext cx="7132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3168E7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2532887"/>
            <a:ext cx="3858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16F81"/>
                </a:solidFill>
                <a:latin typeface="Aptos"/>
              </a:defRPr>
            </a:pPr>
            <a:r>
              <a:t>Tra cứu trước; dùng tên cố vấn từ kết quả để tạo lịch.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12864" y="1874519"/>
            <a:ext cx="4315968" cy="1344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14031" y="2066543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71B23"/>
                </a:solidFill>
                <a:latin typeface="Aptos"/>
              </a:defRPr>
            </a:pPr>
            <a:r>
              <a:t>Tool Interaction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50424" y="2029967"/>
            <a:ext cx="7132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3168E7"/>
                </a:solidFill>
                <a:latin typeface="Aptos"/>
              </a:defRPr>
            </a:pPr>
            <a:r>
              <a:t>5/5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1" y="2532887"/>
            <a:ext cx="3858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16F81"/>
                </a:solidFill>
                <a:latin typeface="Aptos"/>
              </a:defRPr>
            </a:pPr>
            <a:r>
              <a:t>Một tool đọc hồ sơ, một tool tạo bản nháp.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59152" y="3429000"/>
            <a:ext cx="4315968" cy="1344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0" y="3621024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71B23"/>
                </a:solidFill>
                <a:latin typeface="Aptos"/>
              </a:defRPr>
            </a:pPr>
            <a:r>
              <a:t>Dynamic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6712" y="3584448"/>
            <a:ext cx="7132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3168E7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087368"/>
            <a:ext cx="3858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16F81"/>
                </a:solidFill>
                <a:latin typeface="Aptos"/>
              </a:defRPr>
            </a:pPr>
            <a:r>
              <a:t>NOT_FOUND thì dừng; SUCCESS và đủ giờ mới đi tiếp.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2864" y="3429000"/>
            <a:ext cx="4315968" cy="13441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1" y="3621024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171B23"/>
                </a:solidFill>
                <a:latin typeface="Aptos"/>
              </a:defRPr>
            </a:pPr>
            <a:r>
              <a:t>Long Horizon Goal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0424" y="3584448"/>
            <a:ext cx="7132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3168E7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4031" y="4087368"/>
            <a:ext cx="3858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16F81"/>
                </a:solidFill>
                <a:latin typeface="Aptos"/>
              </a:defRPr>
            </a:pPr>
            <a:r>
              <a:t>Giữ mục tiêu vài vòng; chưa có memory dài hạn.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59152" y="5166360"/>
            <a:ext cx="8869680" cy="685800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15184" y="5349240"/>
            <a:ext cx="237744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3168E7"/>
                </a:solidFill>
                <a:latin typeface="Aptos"/>
              </a:defRPr>
            </a:pPr>
            <a:r>
              <a:t>TỔNG: 15/20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6048" y="5394960"/>
            <a:ext cx="6016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171B23"/>
                </a:solidFill>
                <a:latin typeface="Aptos"/>
              </a:defRPr>
            </a:pPr>
            <a:r>
              <a:t>Theo bảng 3 tiêu chí trên slide: 13/15 → agent đáng thử.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6071616"/>
            <a:ext cx="8641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FAQ nội bộ HR trong slide chỉ 3/15; dùng chatbot/retrieval là hợp lý hơn.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9339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993392" y="0"/>
            <a:ext cx="0" cy="685800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6888" y="237744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316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31546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032"/>
            <a:ext cx="1216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1B23"/>
                </a:solidFill>
                <a:latin typeface="Aptos"/>
              </a:defRPr>
            </a:pPr>
            <a:r>
              <a:t>KINGPRO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HỌC VỤ · REACT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LAB 03 / K4B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82880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NỘI 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1305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01  Bài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54203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02  Agentic 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" y="2916936"/>
            <a:ext cx="1673352" cy="338328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295351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3168E7"/>
                </a:solidFill>
                <a:latin typeface="Aptos"/>
              </a:defRPr>
            </a:pPr>
            <a:r>
              <a:t>03  Kiến trúc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36499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04  Công cụ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77647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05 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1879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06  Q&amp;A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2" y="6254496"/>
            <a:ext cx="1655064" cy="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6032" y="6355080"/>
            <a:ext cx="320040" cy="320040"/>
          </a:xfrm>
          <a:prstGeom prst="roundRect">
            <a:avLst>
              <a:gd name="adj" fmla="val 14000"/>
            </a:avLst>
          </a:prstGeom>
          <a:solidFill>
            <a:srgbClr val="E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6441948"/>
            <a:ext cx="2103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364224"/>
            <a:ext cx="12435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171B23"/>
                </a:solidFill>
                <a:latin typeface="Aptos"/>
              </a:defRPr>
            </a:pPr>
            <a:r>
              <a:t>NGUYỄN VĂN DUY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6528816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616F81"/>
                </a:solidFill>
                <a:latin typeface="Aptos"/>
              </a:defRPr>
            </a:pPr>
            <a:r>
              <a:t>2A202602729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10896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3168E7"/>
                </a:solidFill>
                <a:latin typeface="Aptos"/>
              </a:defRPr>
            </a:pPr>
            <a:r>
              <a:t>KIẾN TRÚC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4648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16F81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658368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71B23"/>
                </a:solidFill>
                <a:latin typeface="Aptos"/>
              </a:defRPr>
            </a:pPr>
            <a:r>
              <a:t>Agent nhìn kết quả rồi mới hành động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1197864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16F81"/>
                </a:solidFill>
                <a:latin typeface="Aptos"/>
              </a:defRPr>
            </a:pPr>
            <a:r>
              <a:t>TC04 có chuỗi tool thật: academic_query → schedule_appointment → final answer.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95728" y="2020824"/>
            <a:ext cx="1490472" cy="713232"/>
          </a:xfrm>
          <a:prstGeom prst="roundRect">
            <a:avLst>
              <a:gd name="adj" fmla="val 14000"/>
            </a:avLst>
          </a:prstGeom>
          <a:solidFill>
            <a:srgbClr val="F8F9FB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7168" y="2240280"/>
            <a:ext cx="13075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171B23"/>
                </a:solidFill>
                <a:latin typeface="Aptos"/>
              </a:defRPr>
            </a:pPr>
            <a:r>
              <a:t>Câu hỏi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2020824"/>
            <a:ext cx="1728216" cy="713232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2240280"/>
            <a:ext cx="15453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171B23"/>
                </a:solidFill>
                <a:latin typeface="Aptos"/>
              </a:defRPr>
            </a:pPr>
            <a:r>
              <a:t>LLM chọn bước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47104" y="2020824"/>
            <a:ext cx="1856231" cy="713232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2240280"/>
            <a:ext cx="16733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171B23"/>
                </a:solidFill>
                <a:latin typeface="Aptos"/>
              </a:defRPr>
            </a:pPr>
            <a:r>
              <a:t>academic_query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42248" y="2020824"/>
            <a:ext cx="1965960" cy="713232"/>
          </a:xfrm>
          <a:prstGeom prst="roundRect">
            <a:avLst>
              <a:gd name="adj" fmla="val 14000"/>
            </a:avLst>
          </a:prstGeom>
          <a:solidFill>
            <a:srgbClr val="EEF8F3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33688" y="224028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171B23"/>
                </a:solidFill>
                <a:latin typeface="Aptos"/>
              </a:defRPr>
            </a:pPr>
            <a:r>
              <a:t>Observation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8496" y="2212848"/>
            <a:ext cx="2651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3168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2212848"/>
            <a:ext cx="2651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3168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94776" y="2212848"/>
            <a:ext cx="2651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3168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04872" y="3273552"/>
            <a:ext cx="3831336" cy="1307592"/>
          </a:xfrm>
          <a:prstGeom prst="roundRect">
            <a:avLst>
              <a:gd name="adj" fmla="val 14000"/>
            </a:avLst>
          </a:prstGeom>
          <a:solidFill>
            <a:srgbClr val="FFF6E9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3502152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AD5F1E"/>
                </a:solidFill>
                <a:latin typeface="Aptos"/>
              </a:defRPr>
            </a:pPr>
            <a:r>
              <a:t>NOT_FOUND / tool lỗi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3877056"/>
            <a:ext cx="333756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16F81"/>
                </a:solidFill>
                <a:latin typeface="Aptos"/>
              </a:defRPr>
            </a:pPr>
            <a:r>
              <a:t>Dừng; nói rõ không có hồ sơ.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16F81"/>
                </a:solidFill>
                <a:latin typeface="Aptos"/>
              </a:defRPr>
            </a:pPr>
            <a:r>
              <a:t>Không tạo lịch, không bịa cố vấn.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20" y="3273552"/>
            <a:ext cx="5020056" cy="1307592"/>
          </a:xfrm>
          <a:prstGeom prst="roundRect">
            <a:avLst>
              <a:gd name="adj" fmla="val 14000"/>
            </a:avLst>
          </a:prstGeom>
          <a:solidFill>
            <a:srgbClr val="EEF8F3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93408" y="3493008"/>
            <a:ext cx="4526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6805B"/>
                </a:solidFill>
                <a:latin typeface="Aptos"/>
              </a:defRPr>
            </a:pPr>
            <a:r>
              <a:t>SUCCESS + người dùng yêu cầu đặt lịch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3408" y="3858768"/>
            <a:ext cx="448970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16F81"/>
                </a:solidFill>
                <a:latin typeface="Aptos"/>
              </a:defRPr>
            </a:pPr>
            <a:r>
              <a:t>Lấy đúng cố vấn → schedule_appointment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616F81"/>
                </a:solidFill>
                <a:latin typeface="Aptos"/>
              </a:defRPr>
            </a:pPr>
            <a:r>
              <a:t>→ trả lời: bản nháp DEMO, chưa gửi VinUni.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16168" y="287121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AD5F1E"/>
                </a:solidFill>
                <a:latin typeface="Aptos"/>
              </a:defRPr>
            </a:pPr>
            <a:r>
              <a:t>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4312" y="2871216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6805B"/>
                </a:solidFill>
                <a:latin typeface="Aptos"/>
              </a:defRPr>
            </a:pPr>
            <a:r>
              <a:t>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95728" y="4965192"/>
            <a:ext cx="9070848" cy="768096"/>
          </a:xfrm>
          <a:prstGeom prst="roundRect">
            <a:avLst>
              <a:gd name="adj" fmla="val 14000"/>
            </a:avLst>
          </a:prstGeom>
          <a:solidFill>
            <a:srgbClr val="F8F9FB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51760" y="5138928"/>
            <a:ext cx="85587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171B23"/>
                </a:solidFill>
                <a:latin typeface="Aptos"/>
              </a:defRPr>
            </a:pPr>
            <a:r>
              <a:t>Baseline: Câu hỏi → một lượt LLM → câu trả lời. Không có tool hoặc observation.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04872" y="5961888"/>
            <a:ext cx="90617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MCP-style adapter nằm trong cùng tiến trình theo starter repo; giới hạn 5 vòng và chặn tool call lặp.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9339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993392" y="0"/>
            <a:ext cx="0" cy="685800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6888" y="237744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316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31546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032"/>
            <a:ext cx="1216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1B23"/>
                </a:solidFill>
                <a:latin typeface="Aptos"/>
              </a:defRPr>
            </a:pPr>
            <a:r>
              <a:t>KINGPRO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HỌC VỤ · REACT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LAB 03 / K4B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82880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NỘI 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1305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01  Bài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54203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02  Agentic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95351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03  Kiến trúc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" y="3328416"/>
            <a:ext cx="1673352" cy="338328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336499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3168E7"/>
                </a:solidFill>
                <a:latin typeface="Aptos"/>
              </a:defRPr>
            </a:pPr>
            <a:r>
              <a:t>04  Công cụ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77647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05 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1879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06  Q&amp;A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2" y="6254496"/>
            <a:ext cx="1655064" cy="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6032" y="6355080"/>
            <a:ext cx="320040" cy="320040"/>
          </a:xfrm>
          <a:prstGeom prst="roundRect">
            <a:avLst>
              <a:gd name="adj" fmla="val 14000"/>
            </a:avLst>
          </a:prstGeom>
          <a:solidFill>
            <a:srgbClr val="E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6441948"/>
            <a:ext cx="2103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364224"/>
            <a:ext cx="12435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171B23"/>
                </a:solidFill>
                <a:latin typeface="Aptos"/>
              </a:defRPr>
            </a:pPr>
            <a:r>
              <a:t>NGUYỄN VĂN DUY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6528816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616F81"/>
                </a:solidFill>
                <a:latin typeface="Aptos"/>
              </a:defRPr>
            </a:pPr>
            <a:r>
              <a:t>2A202602729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10896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3168E7"/>
                </a:solidFill>
                <a:latin typeface="Aptos"/>
              </a:defRPr>
            </a:pPr>
            <a:r>
              <a:t>CÔNG CỤ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4648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16F81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658368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71B23"/>
                </a:solidFill>
                <a:latin typeface="Aptos"/>
              </a:defRPr>
            </a:pPr>
            <a:r>
              <a:t>Hai công cụ, hai trách nhiệm rõ ràng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1234440"/>
            <a:ext cx="8961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16F81"/>
                </a:solidFill>
                <a:latin typeface="Aptos"/>
              </a:defRPr>
            </a:pPr>
            <a:r>
              <a:t>Model chọn tool; backend quyết định có cho phép hành động hay không.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59152" y="1783080"/>
            <a:ext cx="4297680" cy="3429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87752" y="1993392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06624" y="2093976"/>
            <a:ext cx="1737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3168E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2029968"/>
            <a:ext cx="31272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71B23"/>
                </a:solidFill>
                <a:latin typeface="Aptos"/>
              </a:defRPr>
            </a:pPr>
            <a:r>
              <a:t>academic_query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15184" y="2633472"/>
            <a:ext cx="37307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16F81"/>
                </a:solidFill>
                <a:latin typeface="Aptos"/>
              </a:defRPr>
            </a:pPr>
            <a:r>
              <a:t>Đầu vào: student_id.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16F81"/>
                </a:solidFill>
                <a:latin typeface="Aptos"/>
              </a:defRPr>
            </a:pPr>
            <a:r>
              <a:t>Đọc hai hồ sơ DEMO theo mã.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06040" y="3575304"/>
            <a:ext cx="3749040" cy="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615184" y="3822191"/>
            <a:ext cx="373075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171B23"/>
                </a:solidFill>
                <a:latin typeface="Aptos"/>
              </a:defRPr>
            </a:pPr>
            <a:r>
              <a:t>Đầu ra: SUCCESS kèm GPA/cố vấn, hoặc NOT_FOUND. Không lấy dữ liệu VinUni thật.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76288" y="1783080"/>
            <a:ext cx="4590288" cy="3429000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23176" y="1993392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2048" y="2093976"/>
            <a:ext cx="1737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3168E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8392" y="2029968"/>
            <a:ext cx="34564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71B23"/>
                </a:solidFill>
                <a:latin typeface="Aptos"/>
              </a:defRPr>
            </a:pPr>
            <a:r>
              <a:t>schedule_appointment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633472"/>
            <a:ext cx="39867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16F81"/>
                </a:solidFill>
                <a:latin typeface="Aptos"/>
              </a:defRPr>
            </a:pPr>
            <a:r>
              <a:t>Đầu vào: mã, giờ hẹn, tên cố vấn.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616F81"/>
                </a:solidFill>
                <a:latin typeface="Aptos"/>
              </a:defRPr>
            </a:pPr>
            <a:r>
              <a:t>Tạo bản nháp lịch trong bộ nhớ.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41464" y="3575304"/>
            <a:ext cx="4032504" cy="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0" y="3822191"/>
            <a:ext cx="40233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171B23"/>
                </a:solidFill>
                <a:latin typeface="Aptos"/>
              </a:defRPr>
            </a:pPr>
            <a:r>
              <a:t>Chỉ SUCCESS nếu đã tra cứu cùng phiên, đúng cố vấn và giờ đúng định dạng. Không đặt lịch thật.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59152" y="5522976"/>
            <a:ext cx="9107424" cy="566928"/>
          </a:xfrm>
          <a:prstGeom prst="roundRect">
            <a:avLst>
              <a:gd name="adj" fmla="val 14000"/>
            </a:avLst>
          </a:prstGeom>
          <a:solidFill>
            <a:srgbClr val="EE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15184" y="5669280"/>
            <a:ext cx="85953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16805B"/>
                </a:solidFill>
                <a:latin typeface="Aptos"/>
              </a:defRPr>
            </a:pPr>
            <a:r>
              <a:t>PHANH AN TOÀN: MAX 5 VÒNG · CHẶN TOOL/ARGS LẶP · LỖI THÌ DỪNG / GIẢI THÍCH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9339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993392" y="0"/>
            <a:ext cx="0" cy="685800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6888" y="237744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316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31546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032"/>
            <a:ext cx="1216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1B23"/>
                </a:solidFill>
                <a:latin typeface="Aptos"/>
              </a:defRPr>
            </a:pPr>
            <a:r>
              <a:t>KINGPRO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HỌC VỤ · REACT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LAB 03 / K4B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82880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NỘI 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1305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01  Bài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54203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02  Agentic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95351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03  Kiến trúc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36499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04  Công cụ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3739896"/>
            <a:ext cx="1673352" cy="338328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377647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3168E7"/>
                </a:solidFill>
                <a:latin typeface="Aptos"/>
              </a:defRPr>
            </a:pPr>
            <a:r>
              <a:t>05 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1879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06  Q&amp;A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2" y="6254496"/>
            <a:ext cx="1655064" cy="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6032" y="6355080"/>
            <a:ext cx="320040" cy="320040"/>
          </a:xfrm>
          <a:prstGeom prst="roundRect">
            <a:avLst>
              <a:gd name="adj" fmla="val 14000"/>
            </a:avLst>
          </a:prstGeom>
          <a:solidFill>
            <a:srgbClr val="E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6441948"/>
            <a:ext cx="2103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364224"/>
            <a:ext cx="12435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171B23"/>
                </a:solidFill>
                <a:latin typeface="Aptos"/>
              </a:defRPr>
            </a:pPr>
            <a:r>
              <a:t>NGUYỄN VĂN DUY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6528816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616F81"/>
                </a:solidFill>
                <a:latin typeface="Aptos"/>
              </a:defRPr>
            </a:pPr>
            <a:r>
              <a:t>2A202602729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10896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3168E7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4648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16F81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658368"/>
            <a:ext cx="91440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71B23"/>
                </a:solidFill>
                <a:latin typeface="Aptos"/>
              </a:defRPr>
            </a:pPr>
            <a:r>
              <a:t>Demo 2 câu và mở trace từng bước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1207008"/>
            <a:ext cx="8915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16F81"/>
                </a:solidFill>
                <a:latin typeface="Aptos"/>
              </a:defRPr>
            </a:pPr>
            <a:r>
              <a:t>Mở giao diện: http://127.0.0.1:8765 · bên trái chọn Bộ 5 tình huống.</a:t>
            </a:r>
          </a:p>
        </p:txBody>
      </p:sp>
      <p:pic>
        <p:nvPicPr>
          <p:cNvPr id="26" name="Picture 25" descr="ui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773936"/>
            <a:ext cx="5641848" cy="303543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174736" y="1773936"/>
            <a:ext cx="3264408" cy="1325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1956816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3168E7"/>
                </a:solidFill>
                <a:latin typeface="Aptos"/>
              </a:defRPr>
            </a:pPr>
            <a:r>
              <a:t>TC01 · CÂU HỎI CHUNG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350008"/>
            <a:ext cx="28346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16F81"/>
                </a:solidFill>
                <a:latin typeface="Aptos"/>
              </a:defRPr>
            </a:pPr>
            <a:r>
              <a:t>Giải thích chức năng demo.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16F81"/>
                </a:solidFill>
                <a:latin typeface="Aptos"/>
              </a:defRPr>
            </a:pPr>
            <a:r>
              <a:t>0 tool call → chatbot đủ.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74736" y="3255264"/>
            <a:ext cx="3264408" cy="1618488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344728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3168E7"/>
                </a:solidFill>
                <a:latin typeface="Aptos"/>
              </a:defRPr>
            </a:pPr>
            <a:r>
              <a:t>TC04 · YÊU CẦU ĐẶT LỊCH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03904"/>
            <a:ext cx="283464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16F81"/>
                </a:solidFill>
                <a:latin typeface="Aptos"/>
              </a:defRPr>
            </a:pPr>
            <a:r>
              <a:t>Tra cứu SV2026002 → đúng cố vấn → bản nháp lịch.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616F81"/>
                </a:solidFill>
                <a:latin typeface="Aptos"/>
              </a:defRPr>
            </a:pPr>
            <a:r>
              <a:t>2 tool calls; mở trace bên phải.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59152" y="5632704"/>
            <a:ext cx="9089136" cy="539496"/>
          </a:xfrm>
          <a:prstGeom prst="roundRect">
            <a:avLst>
              <a:gd name="adj" fmla="val 14000"/>
            </a:avLst>
          </a:prstGeom>
          <a:solidFill>
            <a:srgbClr val="EE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33472" y="5788152"/>
            <a:ext cx="8540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16805B"/>
                </a:solidFill>
                <a:latin typeface="Aptos"/>
              </a:defRPr>
            </a:pPr>
            <a:r>
              <a:t>5/5 CA TEST API THẬT · 4 TOOL CALLS ĐÚNG · TC05 NOT_FOUND KHÔNG TẠO LỊCH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9339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993392" y="0"/>
            <a:ext cx="0" cy="685800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46888" y="237744"/>
            <a:ext cx="402336" cy="402336"/>
          </a:xfrm>
          <a:prstGeom prst="roundRect">
            <a:avLst>
              <a:gd name="adj" fmla="val 14000"/>
            </a:avLst>
          </a:prstGeom>
          <a:solidFill>
            <a:srgbClr val="316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315468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032"/>
            <a:ext cx="12161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71B23"/>
                </a:solidFill>
                <a:latin typeface="Aptos"/>
              </a:defRPr>
            </a:pPr>
            <a:r>
              <a:t>KINGPRO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749808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HỌC VỤ · REACT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LAB 03 / K4B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182880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900" b="1">
                <a:solidFill>
                  <a:srgbClr val="616F81"/>
                </a:solidFill>
                <a:latin typeface="Aptos"/>
              </a:defRPr>
            </a:pPr>
            <a:r>
              <a:t>NỘI 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1305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01  Bài toán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54203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02  Agentic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95351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03  Kiến trúc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336499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04  Công cụ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77647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16F81"/>
                </a:solidFill>
                <a:latin typeface="Aptos"/>
              </a:defRPr>
            </a:pPr>
            <a:r>
              <a:t>05 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" y="4151376"/>
            <a:ext cx="1673352" cy="338328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418795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3168E7"/>
                </a:solidFill>
                <a:latin typeface="Aptos"/>
              </a:defRPr>
            </a:pPr>
            <a:r>
              <a:t>06  Q&amp;A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2" y="6254496"/>
            <a:ext cx="1655064" cy="0"/>
          </a:xfrm>
          <a:prstGeom prst="line">
            <a:avLst/>
          </a:prstGeom>
          <a:ln w="19050">
            <a:solidFill>
              <a:srgbClr val="DF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56032" y="6355080"/>
            <a:ext cx="320040" cy="320040"/>
          </a:xfrm>
          <a:prstGeom prst="roundRect">
            <a:avLst>
              <a:gd name="adj" fmla="val 14000"/>
            </a:avLst>
          </a:prstGeom>
          <a:solidFill>
            <a:srgbClr val="E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6441948"/>
            <a:ext cx="2103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FFFFFF"/>
                </a:solidFill>
                <a:latin typeface="Aptos"/>
              </a:defRPr>
            </a:pPr>
            <a:r>
              <a:t>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6364224"/>
            <a:ext cx="12435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1">
                <a:solidFill>
                  <a:srgbClr val="171B23"/>
                </a:solidFill>
                <a:latin typeface="Aptos"/>
              </a:defRPr>
            </a:pPr>
            <a:r>
              <a:t>NGUYỄN VĂN DUY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6528816"/>
            <a:ext cx="10972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800" b="0">
                <a:solidFill>
                  <a:srgbClr val="616F81"/>
                </a:solidFill>
                <a:latin typeface="Aptos"/>
              </a:defRPr>
            </a:pPr>
            <a:r>
              <a:t>2A202602729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310896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3168E7"/>
                </a:solidFill>
                <a:latin typeface="Aptos"/>
              </a:defRPr>
            </a:pPr>
            <a:r>
              <a:t>Q&amp;A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46480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16F81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658368"/>
            <a:ext cx="90525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2800" b="1">
                <a:solidFill>
                  <a:srgbClr val="171B23"/>
                </a:solidFill>
                <a:latin typeface="Aptos"/>
              </a:defRPr>
            </a:pPr>
            <a:r>
              <a:t>Những giới hạn cần nói thẳng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59152" y="1517904"/>
            <a:ext cx="9089136" cy="8595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87752" y="1673351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3168E7"/>
                </a:solidFill>
                <a:latin typeface="Aptos"/>
              </a:defRPr>
            </a:pPr>
            <a:r>
              <a:t>Dữ liệu thật?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1655063"/>
            <a:ext cx="6144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171B23"/>
                </a:solidFill>
                <a:latin typeface="Aptos"/>
              </a:defRPr>
            </a:pPr>
            <a:r>
              <a:t>Không. Hồ sơ và lịch hẹn là DEMO; chỉ OpenAI API dùng để nghiệm thu là thật.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59152" y="2560320"/>
            <a:ext cx="9089136" cy="859536"/>
          </a:xfrm>
          <a:prstGeom prst="roundRect">
            <a:avLst>
              <a:gd name="adj" fmla="val 14000"/>
            </a:avLst>
          </a:prstGeom>
          <a:solidFill>
            <a:srgbClr val="F8F9FB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87752" y="2715768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3168E7"/>
                </a:solidFill>
                <a:latin typeface="Aptos"/>
              </a:defRPr>
            </a:pPr>
            <a:r>
              <a:t>MCP chạy qua mạng?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2697479"/>
            <a:ext cx="6144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171B23"/>
                </a:solidFill>
                <a:latin typeface="Aptos"/>
              </a:defRPr>
            </a:pPr>
            <a:r>
              <a:t>Chưa. Đây là adapter MCP-style trong cùng tiến trình theo starter repo.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59152" y="3602735"/>
            <a:ext cx="9089136" cy="8595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87752" y="3758183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3168E7"/>
                </a:solidFill>
                <a:latin typeface="Aptos"/>
              </a:defRPr>
            </a:pPr>
            <a:r>
              <a:t>Thought có phải CoT?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3739896"/>
            <a:ext cx="6144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171B23"/>
                </a:solidFill>
                <a:latin typeface="Aptos"/>
              </a:defRPr>
            </a:pPr>
            <a:r>
              <a:t>Không. Trace ghi quyết định gọi tool quan sát được, args, observation và final.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59152" y="4645152"/>
            <a:ext cx="9089136" cy="859536"/>
          </a:xfrm>
          <a:prstGeom prst="roundRect">
            <a:avLst>
              <a:gd name="adj" fmla="val 14000"/>
            </a:avLst>
          </a:prstGeom>
          <a:solidFill>
            <a:srgbClr val="F8F9FB"/>
          </a:solidFill>
          <a:ln w="12700">
            <a:solidFill>
              <a:srgbClr val="DF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87752" y="4800600"/>
            <a:ext cx="208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3168E7"/>
                </a:solidFill>
                <a:latin typeface="Aptos"/>
              </a:defRPr>
            </a:pPr>
            <a:r>
              <a:t>Agent luôn tốt hơn?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4782312"/>
            <a:ext cx="6144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171B23"/>
                </a:solidFill>
                <a:latin typeface="Aptos"/>
              </a:defRPr>
            </a:pPr>
            <a:r>
              <a:t>Không. Câu hỏi đơn giản đi đường chatbot; agent có thêm cost/latency.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59152" y="5879592"/>
            <a:ext cx="9089136" cy="420624"/>
          </a:xfrm>
          <a:prstGeom prst="roundRect">
            <a:avLst>
              <a:gd name="adj" fmla="val 14000"/>
            </a:avLst>
          </a:prstGeom>
          <a:solidFill>
            <a:srgbClr val="F1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24328" y="5989320"/>
            <a:ext cx="8549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000" b="1">
                <a:solidFill>
                  <a:srgbClr val="3168E7"/>
                </a:solidFill>
                <a:latin typeface="Aptos"/>
              </a:defRPr>
            </a:pPr>
            <a:r>
              <a:t>Repo K4B đã nộp VLearn · 15/20 Agentic Fit · 5/5 test là kết quả test, không phải điểm thầy.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